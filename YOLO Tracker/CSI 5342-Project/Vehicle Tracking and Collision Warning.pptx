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13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7" r:id="rId11"/>
    <p:sldId id="264" r:id="rId12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6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10.04.2026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7D7BA-7475-A5B9-16D6-1E01B8D47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80D501F-756B-AF0A-6412-02AC8D91A8E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2109935-F8F1-8E56-903F-E972044540B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44F5747-4663-538C-3DF0-3F796151238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AB0C3210-37B4-53FE-145A-462F81A1DE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712F5A-B4CA-E1E6-7878-0665C01C542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01EAC-1BC6-3013-E0CC-18DE9274F84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cs-CZ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cs typeface="Arial"/>
                <a:sym typeface="Arial"/>
              </a:rPr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14699163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6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svg"/><Relationship Id="rId4" Type="http://schemas.openxmlformats.org/officeDocument/2006/relationships/image" Target="../media/image2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4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 l="387" r="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B1020">
                  <a:alpha val="76000"/>
                </a:srgbClr>
              </a:gs>
              <a:gs pos="60000">
                <a:srgbClr val="0B1020">
                  <a:alpha val="32000"/>
                </a:srgbClr>
              </a:gs>
              <a:gs pos="100000">
                <a:srgbClr val="0B1020">
                  <a:alpha val="8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0" y="4445000"/>
            <a:ext cx="12192000" cy="2413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0B1020">
                  <a:alpha val="54000"/>
                </a:srgbClr>
              </a:gs>
              <a:gs pos="100000">
                <a:srgbClr val="0B1020">
                  <a:alpha val="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10160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b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4200" b="1" i="0" u="none" strike="noStrike" dirty="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Vehicle Tracking &amp;</a:t>
            </a:r>
            <a:br>
              <a:rPr lang="en-US" sz="4200" b="0" i="0" u="none" strike="noStrike" dirty="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</a:br>
            <a:r>
              <a:rPr lang="en-US" sz="4200" b="1" i="0" u="none" strike="noStrike" dirty="0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Collision Warning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2200" b="0" i="0" u="none" strike="noStrike" dirty="0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Detection → Tracking → Path Mapping → Speed &amp; Prediction</a:t>
            </a:r>
          </a:p>
        </p:txBody>
      </p:sp>
      <p:sp>
        <p:nvSpPr>
          <p:cNvPr id="6" name="AutoShape 6"/>
          <p:cNvSpPr/>
          <p:nvPr/>
        </p:nvSpPr>
        <p:spPr>
          <a:xfrm>
            <a:off x="1016000" y="5715000"/>
            <a:ext cx="508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B8C4DD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Presented by Group 8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540000"/>
            <a:ext cx="762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Problem &amp; Goal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" cy="381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5588000" cy="381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>
            <a:normAutofit fontScale="92500" lnSpcReduction="10000"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2400" b="1" i="0" u="none" strike="noStrike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The Objective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Transform a video stream into actionable, real-time motion intelligence.</a:t>
            </a:r>
          </a:p>
          <a:p>
            <a:pPr indent="0" algn="l">
              <a:lnSpc>
                <a:spcPct val="116666"/>
              </a:lnSpc>
            </a:pPr>
            <a:r>
              <a:rPr lang="en-US" sz="2400" b="1" i="0" u="none" strike="noStrike" dirty="0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System Outputs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For every vehicle in the frame, we extract:</a:t>
            </a:r>
          </a:p>
          <a:p>
            <a:pPr marL="228600" indent="-228600" algn="l">
              <a:lnSpc>
                <a:spcPct val="116666"/>
              </a:lnSpc>
              <a:buClr>
                <a:srgbClr val="EAF2FF"/>
              </a:buClr>
              <a:buChar char="•"/>
            </a:pPr>
            <a:r>
              <a:rPr lang="en-US" sz="1800" b="0" i="0" u="none" strike="noStrike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Unique Track ID</a:t>
            </a:r>
          </a:p>
          <a:p>
            <a:pPr marL="228600" indent="-228600" algn="l">
              <a:lnSpc>
                <a:spcPct val="116666"/>
              </a:lnSpc>
              <a:buClr>
                <a:srgbClr val="EAF2FF"/>
              </a:buClr>
              <a:buChar char="•"/>
            </a:pPr>
            <a:r>
              <a:rPr lang="en-US" sz="1800" b="0" i="0" u="none" strike="noStrike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Current mapped position</a:t>
            </a:r>
          </a:p>
          <a:p>
            <a:pPr marL="228600" indent="-228600" algn="l">
              <a:lnSpc>
                <a:spcPct val="116666"/>
              </a:lnSpc>
              <a:buClr>
                <a:srgbClr val="EAF2FF"/>
              </a:buClr>
              <a:buChar char="•"/>
            </a:pPr>
            <a:r>
              <a:rPr lang="en-US" sz="1800" b="0" i="0" u="none" strike="noStrike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Estimated speed (</a:t>
            </a:r>
            <a:r>
              <a:rPr lang="en-US" sz="1800" b="0" i="0" u="none" strike="noStrike" dirty="0" err="1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px</a:t>
            </a:r>
            <a:r>
              <a:rPr lang="en-US" sz="1800" b="0" i="0" u="none" strike="noStrike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/frame)</a:t>
            </a:r>
          </a:p>
          <a:p>
            <a:pPr marL="228600" indent="-228600" algn="l">
              <a:lnSpc>
                <a:spcPct val="116666"/>
              </a:lnSpc>
              <a:buClr>
                <a:srgbClr val="EAF2FF"/>
              </a:buClr>
              <a:buChar char="•"/>
            </a:pPr>
            <a:r>
              <a:rPr lang="en-US" sz="1800" b="0" i="0" u="none" strike="noStrike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Near-future trajectory</a:t>
            </a:r>
          </a:p>
          <a:p>
            <a:pPr indent="0" algn="l">
              <a:lnSpc>
                <a:spcPct val="116666"/>
              </a:lnSpc>
            </a:pPr>
            <a:r>
              <a:rPr lang="en-US" sz="2400" b="1" i="0" u="none" strike="noStrike" dirty="0">
                <a:solidFill>
                  <a:srgbClr val="FF6347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 Goal</a:t>
            </a:r>
          </a:p>
          <a:p>
            <a:pPr indent="0" algn="l">
              <a:lnSpc>
                <a:spcPct val="116666"/>
              </a:lnSpc>
            </a:pPr>
            <a:r>
              <a:rPr lang="en-US" sz="18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Early collision risk warning based on short-horizon prediction.</a:t>
            </a:r>
          </a:p>
        </p:txBody>
      </p:sp>
      <p:sp>
        <p:nvSpPr>
          <p:cNvPr id="5" name="AutoShape 5"/>
          <p:cNvSpPr/>
          <p:nvPr/>
        </p:nvSpPr>
        <p:spPr>
          <a:xfrm>
            <a:off x="6858000" y="2032000"/>
            <a:ext cx="4572000" cy="4064000"/>
          </a:xfrm>
          <a:prstGeom prst="roundRect">
            <a:avLst>
              <a:gd name="adj" fmla="val 25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366000" y="2540000"/>
            <a:ext cx="1524000" cy="1016000"/>
          </a:xfrm>
          <a:prstGeom prst="roundRect">
            <a:avLst>
              <a:gd name="adj" fmla="val 0"/>
            </a:avLst>
          </a:prstGeom>
          <a:noFill/>
          <a:ln w="12700" cap="flat" cmpd="sng">
            <a:solidFill>
              <a:srgbClr val="B8C4DD">
                <a:alpha val="20000"/>
              </a:srgbClr>
            </a:solidFill>
            <a:prstDash val="dash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B8C4DD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Raw Video</a:t>
            </a:r>
            <a:br>
              <a:rPr lang="en-US" sz="1400" b="0" i="0" u="none" strike="noStrike">
                <a:solidFill>
                  <a:srgbClr val="B8C4DD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>
                <a:solidFill>
                  <a:srgbClr val="B8C4DD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Stream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144000" y="2895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9652000" y="2540000"/>
            <a:ext cx="1270000" cy="1524000"/>
          </a:xfrm>
          <a:prstGeom prst="roundRect">
            <a:avLst>
              <a:gd name="adj" fmla="val 4000"/>
            </a:avLst>
          </a:prstGeom>
          <a:solidFill>
            <a:srgbClr val="2DD4BF">
              <a:alpha val="10000"/>
            </a:srgbClr>
          </a:solidFill>
          <a:ln w="25400" cap="flat" cmpd="sng">
            <a:solidFill>
              <a:srgbClr val="2DD4BF">
                <a:alpha val="80000"/>
              </a:srgbClr>
            </a:solidFill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Detection</a:t>
            </a:r>
            <a:br>
              <a:rPr lang="en-US" sz="1400" b="0" i="0" u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</a:br>
            <a:r>
              <a:rPr lang="en-US" sz="1400" b="0" i="0" u="none" strike="noStrike">
                <a:solidFill>
                  <a:srgbClr val="2DD4BF"/>
                </a:solidFill>
                <a:latin typeface="Inter"/>
                <a:ea typeface="Inter"/>
                <a:cs typeface="Inter"/>
                <a:sym typeface="Inter"/>
              </a:rPr>
              <a:t>&amp; Tracking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366000" y="4318000"/>
            <a:ext cx="3556000" cy="1270000"/>
          </a:xfrm>
          <a:prstGeom prst="roundRect">
            <a:avLst>
              <a:gd name="adj" fmla="val 0"/>
            </a:avLst>
          </a:prstGeom>
          <a:solidFill>
            <a:srgbClr val="FF6347">
              <a:alpha val="5000"/>
            </a:srgbClr>
          </a:solidFill>
          <a:ln w="12700" cap="flat" cmpd="sng">
            <a:solidFill>
              <a:srgbClr val="FF6347">
                <a:alpha val="50000"/>
              </a:srgbClr>
            </a:solidFill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FF6347"/>
                </a:solidFill>
                <a:latin typeface="Space Grotesk"/>
                <a:ea typeface="Space Grotesk"/>
                <a:cs typeface="Space Grotesk"/>
                <a:sym typeface="Space Grotesk"/>
              </a:rPr>
              <a:t>Collision Warning Logic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5228255">
            <a:off x="10160000" y="4184174"/>
            <a:ext cx="25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DD4B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1" name="Connector 11"/>
          <p:cNvCxnSpPr/>
          <p:nvPr/>
        </p:nvCxnSpPr>
        <p:spPr>
          <a:xfrm rot="10761804">
            <a:off x="9144600" y="4311650"/>
            <a:ext cx="1143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DD4BF">
                <a:alpha val="5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cxnSp>
        <p:nvCxnSpPr>
          <p:cNvPr id="12" name="Connector 12"/>
          <p:cNvCxnSpPr/>
          <p:nvPr/>
        </p:nvCxnSpPr>
        <p:spPr>
          <a:xfrm rot="-2700000">
            <a:off x="9145995" y="4311650"/>
            <a:ext cx="127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DD4BF">
                <a:alpha val="50000"/>
              </a:srgbClr>
            </a:solidFill>
            <a:prstDash val="solid"/>
            <a:round/>
            <a:headEnd type="none" w="lg" len="lg"/>
            <a:tailEnd type="arrow" w="lg" len="lg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>
            <a:alphaModFix amt="15000"/>
          </a:blip>
          <a:srcRect l="387" r="38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End-to-End Pipeline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270000"/>
            <a:ext cx="508000" cy="381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762000" y="2794000"/>
            <a:ext cx="1778000" cy="2032000"/>
          </a:xfrm>
          <a:prstGeom prst="roundRect">
            <a:avLst>
              <a:gd name="adj" fmla="val 4285"/>
            </a:avLst>
          </a:prstGeom>
          <a:solidFill>
            <a:srgbClr val="101830">
              <a:alpha val="90000"/>
            </a:srgbClr>
          </a:solidFill>
          <a:ln w="12700" cap="flat" cmpd="sng">
            <a:solidFill>
              <a:srgbClr val="2DD4BF">
                <a:alpha val="5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127000" tIns="254000" rIns="127000" bIns="101600" rtlCol="0" anchor="t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Detection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YOLO bounding boxes &amp; conf</a:t>
            </a:r>
          </a:p>
        </p:txBody>
      </p:sp>
      <p:sp>
        <p:nvSpPr>
          <p:cNvPr id="6" name="AutoShape 6"/>
          <p:cNvSpPr/>
          <p:nvPr/>
        </p:nvSpPr>
        <p:spPr>
          <a:xfrm>
            <a:off x="762000" y="2794000"/>
            <a:ext cx="1778000" cy="50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641600" y="3657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048000" y="2794000"/>
            <a:ext cx="1778000" cy="2032000"/>
          </a:xfrm>
          <a:prstGeom prst="roundRect">
            <a:avLst>
              <a:gd name="adj" fmla="val 4285"/>
            </a:avLst>
          </a:prstGeom>
          <a:solidFill>
            <a:srgbClr val="101830">
              <a:alpha val="90000"/>
            </a:srgbClr>
          </a:solidFill>
          <a:ln w="12700" cap="flat" cmpd="sng">
            <a:solidFill>
              <a:srgbClr val="3CB4DC">
                <a:alpha val="5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127000" tIns="254000" rIns="127000" bIns="101600" rtlCol="0" anchor="t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CB4DC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Tracking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ByteTrack assigns Track IDs</a:t>
            </a:r>
          </a:p>
        </p:txBody>
      </p:sp>
      <p:sp>
        <p:nvSpPr>
          <p:cNvPr id="9" name="AutoShape 9"/>
          <p:cNvSpPr/>
          <p:nvPr/>
        </p:nvSpPr>
        <p:spPr>
          <a:xfrm>
            <a:off x="3048000" y="2794000"/>
            <a:ext cx="1778000" cy="50800"/>
          </a:xfrm>
          <a:prstGeom prst="roundRect">
            <a:avLst>
              <a:gd name="adj" fmla="val 0"/>
            </a:avLst>
          </a:prstGeom>
          <a:solidFill>
            <a:srgbClr val="3CB4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27600" y="3657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334000" y="2794000"/>
            <a:ext cx="1778000" cy="2032000"/>
          </a:xfrm>
          <a:prstGeom prst="roundRect">
            <a:avLst>
              <a:gd name="adj" fmla="val 4285"/>
            </a:avLst>
          </a:prstGeom>
          <a:solidFill>
            <a:srgbClr val="101830">
              <a:alpha val="90000"/>
            </a:srgbClr>
          </a:solidFill>
          <a:ln w="12700" cap="flat" cmpd="sng">
            <a:solidFill>
              <a:srgbClr val="4B96F0">
                <a:alpha val="5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127000" tIns="254000" rIns="127000" bIns="101600" rtlCol="0" anchor="t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B9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Mapping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KDTree maps to path coords</a:t>
            </a:r>
          </a:p>
        </p:txBody>
      </p:sp>
      <p:sp>
        <p:nvSpPr>
          <p:cNvPr id="12" name="AutoShape 12"/>
          <p:cNvSpPr/>
          <p:nvPr/>
        </p:nvSpPr>
        <p:spPr>
          <a:xfrm>
            <a:off x="5334000" y="2794000"/>
            <a:ext cx="1778000" cy="50800"/>
          </a:xfrm>
          <a:prstGeom prst="roundRect">
            <a:avLst>
              <a:gd name="adj" fmla="val 0"/>
            </a:avLst>
          </a:prstGeom>
          <a:solidFill>
            <a:srgbClr val="4B96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213600" y="3657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7620000" y="2794000"/>
            <a:ext cx="1778000" cy="2032000"/>
          </a:xfrm>
          <a:prstGeom prst="roundRect">
            <a:avLst>
              <a:gd name="adj" fmla="val 4285"/>
            </a:avLst>
          </a:prstGeom>
          <a:solidFill>
            <a:srgbClr val="101830">
              <a:alpha val="90000"/>
            </a:srgbClr>
          </a:solidFill>
          <a:ln w="12700" cap="flat" cmpd="sng">
            <a:solidFill>
              <a:srgbClr val="7882FA">
                <a:alpha val="5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127000" tIns="254000" rIns="127000" bIns="101600" rtlCol="0" anchor="t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7882FA"/>
                </a:solidFill>
                <a:latin typeface="Space Grotesk"/>
                <a:ea typeface="Space Grotesk"/>
                <a:cs typeface="Space Grotesk"/>
                <a:sym typeface="Space Grotesk"/>
              </a:rPr>
              <a:t>4. Prediction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History yields speed &amp; future pts</a:t>
            </a:r>
          </a:p>
        </p:txBody>
      </p:sp>
      <p:sp>
        <p:nvSpPr>
          <p:cNvPr id="15" name="AutoShape 15"/>
          <p:cNvSpPr/>
          <p:nvPr/>
        </p:nvSpPr>
        <p:spPr>
          <a:xfrm>
            <a:off x="7620000" y="2794000"/>
            <a:ext cx="1778000" cy="50800"/>
          </a:xfrm>
          <a:prstGeom prst="roundRect">
            <a:avLst>
              <a:gd name="adj" fmla="val 0"/>
            </a:avLst>
          </a:prstGeom>
          <a:solidFill>
            <a:srgbClr val="7882FA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499600" y="3657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906000" y="2794000"/>
            <a:ext cx="1778000" cy="2032000"/>
          </a:xfrm>
          <a:prstGeom prst="roundRect">
            <a:avLst>
              <a:gd name="adj" fmla="val 4285"/>
            </a:avLst>
          </a:prstGeom>
          <a:solidFill>
            <a:srgbClr val="101830">
              <a:alpha val="90000"/>
            </a:srgbClr>
          </a:solidFill>
          <a:ln w="12700" cap="flat" cmpd="sng">
            <a:solidFill>
              <a:srgbClr val="FF6347">
                <a:alpha val="6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127000" tIns="254000" rIns="127000" bIns="101600" rtlCol="0" anchor="t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FF6347"/>
                </a:solidFill>
                <a:latin typeface="Space Grotesk"/>
                <a:ea typeface="Space Grotesk"/>
                <a:cs typeface="Space Grotesk"/>
                <a:sym typeface="Space Grotesk"/>
              </a:rPr>
              <a:t>5. Warning</a:t>
            </a:r>
            <a:endParaRPr lang="en-US" sz="1100"/>
          </a:p>
          <a:p>
            <a:pPr indent="0" algn="ctr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Trajectory comparison risk</a:t>
            </a:r>
          </a:p>
        </p:txBody>
      </p:sp>
      <p:sp>
        <p:nvSpPr>
          <p:cNvPr id="18" name="AutoShape 18"/>
          <p:cNvSpPr/>
          <p:nvPr/>
        </p:nvSpPr>
        <p:spPr>
          <a:xfrm>
            <a:off x="9906000" y="2794000"/>
            <a:ext cx="1778000" cy="508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9" name="AutoShape 19"/>
          <p:cNvSpPr/>
          <p:nvPr/>
        </p:nvSpPr>
        <p:spPr>
          <a:xfrm>
            <a:off x="762000" y="5461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600" b="0" i="0" u="none" strike="noStrike">
                <a:solidFill>
                  <a:srgbClr val="B8C4DD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Modular, frame-by-frame architecture ensures real-time applicability.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Vehicle Detection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" cy="381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Detection quality sets the ceiling for the entire tracking and prediction system.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5080000" cy="1778000"/>
          </a:xfrm>
          <a:prstGeom prst="roundRect">
            <a:avLst>
              <a:gd name="adj" fmla="val 5714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317500" tIns="317500" rIns="3175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YOLO Architecture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Utilizes custom YOLO weights (best.pt) trained specifically for vehicle and object recognition in traffic scenes.</a:t>
            </a: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953000" y="28575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6350000" y="2540000"/>
            <a:ext cx="5080000" cy="1778000"/>
          </a:xfrm>
          <a:prstGeom prst="roundRect">
            <a:avLst>
              <a:gd name="adj" fmla="val 5714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317500" tIns="317500" rIns="3175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Confidence = 0.</a:t>
            </a:r>
            <a:r>
              <a:rPr lang="en-US" sz="2200" b="1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25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A balanced threshold chosen to reduce missed detections of distant cars while filtering out low-confidence false positives.</a:t>
            </a: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541000" y="2857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62000" y="4572000"/>
            <a:ext cx="5080000" cy="1778000"/>
          </a:xfrm>
          <a:prstGeom prst="roundRect">
            <a:avLst>
              <a:gd name="adj" fmla="val 5714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317500" tIns="317500" rIns="3175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Supervision Library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Standardizes raw YOLO outputs into a structured format (sv.Detections) making downstream tracking seamless.</a:t>
            </a: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953000" y="4889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350000" y="4572000"/>
            <a:ext cx="5080000" cy="1778000"/>
          </a:xfrm>
          <a:prstGeom prst="roundRect">
            <a:avLst>
              <a:gd name="adj" fmla="val 5714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2DD4BF">
                <a:alpha val="20000"/>
              </a:srgbClr>
            </a:solidFill>
            <a:prstDash val="solid"/>
            <a:round/>
          </a:ln>
        </p:spPr>
        <p:txBody>
          <a:bodyPr vert="horz" wrap="square" lIns="317500" tIns="317500" rIns="3175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2200" b="1" i="0" u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Frame-to-Tracker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Each frame's bounding boxes are fed instantly to the tracker; no batching, ensuring real-time capabilities.</a:t>
            </a: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541000" y="4889500"/>
            <a:ext cx="508000" cy="50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Multi-Object Tracking (ByteTrack)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" cy="381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Maintaining a stable vehicle identity (TID) across frames despite detection noise.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270000" y="2794000"/>
            <a:ext cx="25400" cy="304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2DD4BF">
                  <a:alpha val="100000"/>
                </a:srgbClr>
              </a:gs>
              <a:gs pos="100000">
                <a:srgbClr val="4B96F0">
                  <a:alpha val="100000"/>
                </a:srgbClr>
              </a:gs>
            </a:gsLst>
            <a:lin ang="5400000"/>
          </a:gra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104900" y="2794000"/>
            <a:ext cx="355600" cy="355600"/>
          </a:xfrm>
          <a:prstGeom prst="ellipse">
            <a:avLst/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101600" tIns="101600" rIns="101600" bIns="101600" rtlCol="0" anchor="ctr" anchorCtr="0">
            <a:normAutofit fontScale="25000" lnSpcReduction="20000"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B1020"/>
                </a:solidFill>
                <a:latin typeface="Inter"/>
                <a:ea typeface="Inter"/>
                <a:cs typeface="Inter"/>
                <a:sym typeface="Inter"/>
              </a:rPr>
              <a:t>1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778000" y="26670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190500" tIns="127000" rIns="1016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Kalman Prediction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Estimate new position of existing tracks</a:t>
            </a:r>
          </a:p>
        </p:txBody>
      </p:sp>
      <p:sp>
        <p:nvSpPr>
          <p:cNvPr id="8" name="AutoShape 8"/>
          <p:cNvSpPr/>
          <p:nvPr/>
        </p:nvSpPr>
        <p:spPr>
          <a:xfrm>
            <a:off x="1104900" y="4064000"/>
            <a:ext cx="355600" cy="355600"/>
          </a:xfrm>
          <a:prstGeom prst="ellipse">
            <a:avLst/>
          </a:prstGeom>
          <a:solidFill>
            <a:srgbClr val="3CB4DC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101600" tIns="101600" rIns="101600" bIns="101600" rtlCol="0" anchor="ctr" anchorCtr="0">
            <a:normAutofit fontScale="25000" lnSpcReduction="20000"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B1020"/>
                </a:solidFill>
                <a:latin typeface="Inter"/>
                <a:ea typeface="Inter"/>
                <a:cs typeface="Inter"/>
                <a:sym typeface="Inter"/>
              </a:rPr>
              <a:t>2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778000" y="39370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3CB4DC">
                <a:alpha val="30000"/>
              </a:srgbClr>
            </a:solidFill>
            <a:prstDash val="solid"/>
            <a:round/>
          </a:ln>
        </p:spPr>
        <p:txBody>
          <a:bodyPr vert="horz" wrap="square" lIns="190500" tIns="127000" rIns="1016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Data Association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Match boxes via IoU &amp; motion</a:t>
            </a:r>
          </a:p>
        </p:txBody>
      </p:sp>
      <p:sp>
        <p:nvSpPr>
          <p:cNvPr id="10" name="AutoShape 10"/>
          <p:cNvSpPr/>
          <p:nvPr/>
        </p:nvSpPr>
        <p:spPr>
          <a:xfrm>
            <a:off x="1104900" y="5334000"/>
            <a:ext cx="355600" cy="355600"/>
          </a:xfrm>
          <a:prstGeom prst="ellipse">
            <a:avLst/>
          </a:prstGeom>
          <a:solidFill>
            <a:srgbClr val="4B96F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101600" tIns="101600" rIns="101600" bIns="101600" rtlCol="0" anchor="ctr" anchorCtr="0">
            <a:normAutofit fontScale="25000" lnSpcReduction="20000"/>
          </a:bodyPr>
          <a:lstStyle/>
          <a:p>
            <a:pPr indent="0" algn="ctr">
              <a:lnSpc>
                <a:spcPct val="100000"/>
              </a:lnSpc>
              <a:defRPr/>
            </a:pPr>
            <a:r>
              <a:rPr lang="en-US" sz="1400" b="1" i="0" u="none" strike="noStrike">
                <a:solidFill>
                  <a:srgbClr val="0B1020"/>
                </a:solidFill>
                <a:latin typeface="Inter"/>
                <a:ea typeface="Inter"/>
                <a:cs typeface="Inter"/>
                <a:sym typeface="Inter"/>
              </a:rPr>
              <a:t>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1778000" y="5207000"/>
            <a:ext cx="3810000" cy="762000"/>
          </a:xfrm>
          <a:prstGeom prst="roundRect">
            <a:avLst>
              <a:gd name="adj" fmla="val 100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4B96F0">
                <a:alpha val="30000"/>
              </a:srgbClr>
            </a:solidFill>
            <a:prstDash val="solid"/>
            <a:round/>
          </a:ln>
        </p:spPr>
        <p:txBody>
          <a:bodyPr vert="horz" wrap="square" lIns="190500" tIns="127000" rIns="1016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History Update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Store centers in deque (HISTORY_SIZE=21)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604000" y="2921000"/>
            <a:ext cx="4826000" cy="304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>
            <a:normAutofit/>
          </a:bodyPr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Track ID (TID)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Each unique vehicle is assigned an integer ID that persists as long as the vehicle is visible.</a:t>
            </a:r>
          </a:p>
          <a:p>
            <a:pPr indent="0" algn="l">
              <a:lnSpc>
                <a:spcPct val="125000"/>
              </a:lnSpc>
            </a:pPr>
            <a:r>
              <a:rPr lang="en-US" sz="2000" b="1" i="0" u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Trajectory Deque</a:t>
            </a:r>
          </a:p>
          <a:p>
            <a:pPr indent="0" algn="l">
              <a:lnSpc>
                <a:spcPct val="125000"/>
              </a:lnSpc>
            </a:pPr>
            <a:r>
              <a:rPr lang="en-US" sz="16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We maintain the last 21 frames (approx. 0.7s at 30fps) of center coordinates for each TID. This is crucial for calculating velocity and predicting the immediate future.</a:t>
            </a:r>
          </a:p>
        </p:txBody>
      </p:sp>
      <p:sp>
        <p:nvSpPr>
          <p:cNvPr id="13" name="AutoShape 13"/>
          <p:cNvSpPr/>
          <p:nvPr/>
        </p:nvSpPr>
        <p:spPr>
          <a:xfrm>
            <a:off x="6604000" y="2921000"/>
            <a:ext cx="50800" cy="304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04000" y="4394200"/>
            <a:ext cx="50800" cy="3048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Path Mapping via KDTree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" cy="381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0930" r="10930"/>
          <a:stretch>
            <a:fillRect/>
          </a:stretch>
        </p:blipFill>
        <p:spPr>
          <a:xfrm>
            <a:off x="762000" y="2032000"/>
            <a:ext cx="5334000" cy="3810000"/>
          </a:xfrm>
          <a:prstGeom prst="roundRect">
            <a:avLst>
              <a:gd name="adj" fmla="val 2666"/>
            </a:avLst>
          </a:prstGeom>
          <a:noFill/>
          <a:ln w="254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6858000" y="2032000"/>
            <a:ext cx="4572000" cy="1016000"/>
          </a:xfrm>
          <a:prstGeom prst="roundRect">
            <a:avLst>
              <a:gd name="adj" fmla="val 75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2DD4BF">
                <a:alpha val="40000"/>
              </a:srgbClr>
            </a:solidFill>
            <a:prstDash val="solid"/>
            <a:round/>
          </a:ln>
        </p:spPr>
        <p:txBody>
          <a:bodyPr vert="horz" wrap="square" lIns="254000" tIns="190500" rIns="254000" bIns="101600" rtlCol="0" anchor="t" anchorCtr="0">
            <a:normAutofit lnSpcReduction="10000"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Build KDTree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Preload reference path coordinates and construct SciPy KDTree once.</a:t>
            </a:r>
          </a:p>
        </p:txBody>
      </p:sp>
      <p:sp>
        <p:nvSpPr>
          <p:cNvPr id="6" name="AutoShape 6"/>
          <p:cNvSpPr/>
          <p:nvPr/>
        </p:nvSpPr>
        <p:spPr>
          <a:xfrm>
            <a:off x="6858000" y="2032000"/>
            <a:ext cx="76200" cy="1016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9017000" y="3111500"/>
            <a:ext cx="254000" cy="254000"/>
          </a:xfrm>
          <a:prstGeom prst="downArrow">
            <a:avLst/>
          </a:prstGeom>
          <a:solidFill>
            <a:srgbClr val="2DD4B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858000" y="3429000"/>
            <a:ext cx="4572000" cy="1016000"/>
          </a:xfrm>
          <a:prstGeom prst="roundRect">
            <a:avLst>
              <a:gd name="adj" fmla="val 75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3CB4DC">
                <a:alpha val="40000"/>
              </a:srgbClr>
            </a:solidFill>
            <a:prstDash val="solid"/>
            <a:round/>
          </a:ln>
        </p:spPr>
        <p:txBody>
          <a:bodyPr vert="horz" wrap="square" lIns="254000" tIns="190500" rIns="254000" bIns="101600" rtlCol="0" anchor="t" anchorCtr="0">
            <a:normAutofit lnSpcReduction="10000"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3CB4DC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Query Nearest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For each vehicle (cx, cy), query tree for closest path node &amp; index.</a:t>
            </a:r>
          </a:p>
        </p:txBody>
      </p:sp>
      <p:sp>
        <p:nvSpPr>
          <p:cNvPr id="9" name="AutoShape 9"/>
          <p:cNvSpPr/>
          <p:nvPr/>
        </p:nvSpPr>
        <p:spPr>
          <a:xfrm>
            <a:off x="6858000" y="3429000"/>
            <a:ext cx="76200" cy="1016000"/>
          </a:xfrm>
          <a:prstGeom prst="roundRect">
            <a:avLst>
              <a:gd name="adj" fmla="val 0"/>
            </a:avLst>
          </a:prstGeom>
          <a:solidFill>
            <a:srgbClr val="3CB4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9017000" y="4508500"/>
            <a:ext cx="254000" cy="254000"/>
          </a:xfrm>
          <a:prstGeom prst="downArrow">
            <a:avLst/>
          </a:prstGeom>
          <a:solidFill>
            <a:srgbClr val="3CB4DC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858000" y="4826000"/>
            <a:ext cx="4572000" cy="1016000"/>
          </a:xfrm>
          <a:prstGeom prst="roundRect">
            <a:avLst>
              <a:gd name="adj" fmla="val 75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4B96F0">
                <a:alpha val="40000"/>
              </a:srgbClr>
            </a:solidFill>
            <a:prstDash val="solid"/>
            <a:round/>
          </a:ln>
        </p:spPr>
        <p:txBody>
          <a:bodyPr vert="horz" wrap="square" lIns="254000" tIns="190500" rIns="2540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4B96F0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Threshold Filter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Assign to path only if distance &lt; 25px, filtering outliers.</a:t>
            </a:r>
          </a:p>
        </p:txBody>
      </p:sp>
      <p:sp>
        <p:nvSpPr>
          <p:cNvPr id="12" name="AutoShape 12"/>
          <p:cNvSpPr/>
          <p:nvPr/>
        </p:nvSpPr>
        <p:spPr>
          <a:xfrm>
            <a:off x="6858000" y="4826000"/>
            <a:ext cx="76200" cy="1016000"/>
          </a:xfrm>
          <a:prstGeom prst="roundRect">
            <a:avLst>
              <a:gd name="adj" fmla="val 0"/>
            </a:avLst>
          </a:prstGeom>
          <a:solidFill>
            <a:srgbClr val="4B96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Speed &amp; Future Prediction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" cy="381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70000" y="4318000"/>
            <a:ext cx="2794000" cy="1524000"/>
          </a:xfrm>
          <a:prstGeom prst="roundRect">
            <a:avLst>
              <a:gd name="adj" fmla="val 50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254000" tIns="254000" rIns="1905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1. Extract History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Retrieve recent (x,y) centers from the TID deque.</a:t>
            </a:r>
          </a:p>
        </p:txBody>
      </p:sp>
      <p:sp>
        <p:nvSpPr>
          <p:cNvPr id="5" name="AutoShape 5"/>
          <p:cNvSpPr/>
          <p:nvPr/>
        </p:nvSpPr>
        <p:spPr>
          <a:xfrm>
            <a:off x="1270000" y="5778500"/>
            <a:ext cx="2794000" cy="635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6" name="Connector 6"/>
          <p:cNvCxnSpPr/>
          <p:nvPr/>
        </p:nvCxnSpPr>
        <p:spPr>
          <a:xfrm>
            <a:off x="4064000" y="3810000"/>
            <a:ext cx="762000" cy="1270000"/>
          </a:xfrm>
          <a:prstGeom prst="curvedConnector3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DD4BF">
                <a:alpha val="5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id="7" name="AutoShape 7"/>
          <p:cNvSpPr/>
          <p:nvPr/>
        </p:nvSpPr>
        <p:spPr>
          <a:xfrm>
            <a:off x="4699000" y="3048000"/>
            <a:ext cx="2794000" cy="1524000"/>
          </a:xfrm>
          <a:prstGeom prst="roundRect">
            <a:avLst>
              <a:gd name="adj" fmla="val 50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3CB4DC">
                <a:alpha val="3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254000" tIns="254000" rIns="1905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2. Velocity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Calculate displacement over frames (px/frame).</a:t>
            </a:r>
          </a:p>
        </p:txBody>
      </p:sp>
      <p:sp>
        <p:nvSpPr>
          <p:cNvPr id="8" name="AutoShape 8"/>
          <p:cNvSpPr/>
          <p:nvPr/>
        </p:nvSpPr>
        <p:spPr>
          <a:xfrm>
            <a:off x="4699000" y="4508500"/>
            <a:ext cx="2794000" cy="63500"/>
          </a:xfrm>
          <a:prstGeom prst="roundRect">
            <a:avLst>
              <a:gd name="adj" fmla="val 0"/>
            </a:avLst>
          </a:prstGeom>
          <a:solidFill>
            <a:srgbClr val="3CB4D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cxnSp>
        <p:nvCxnSpPr>
          <p:cNvPr id="9" name="Connector 9"/>
          <p:cNvCxnSpPr/>
          <p:nvPr/>
        </p:nvCxnSpPr>
        <p:spPr>
          <a:xfrm>
            <a:off x="7493000" y="2540000"/>
            <a:ext cx="762000" cy="1270000"/>
          </a:xfrm>
          <a:prstGeom prst="curvedConnector3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3CB4DC">
                <a:alpha val="50000"/>
              </a:srgbClr>
            </a:solidFill>
            <a:prstDash val="dash"/>
            <a:round/>
            <a:headEnd type="none" w="lg" len="lg"/>
            <a:tailEnd type="arrow" w="lg" len="lg"/>
          </a:ln>
        </p:spPr>
      </p:cxnSp>
      <p:sp>
        <p:nvSpPr>
          <p:cNvPr id="10" name="AutoShape 10"/>
          <p:cNvSpPr/>
          <p:nvPr/>
        </p:nvSpPr>
        <p:spPr>
          <a:xfrm>
            <a:off x="8128000" y="1778000"/>
            <a:ext cx="2794000" cy="1524000"/>
          </a:xfrm>
          <a:prstGeom prst="roundRect">
            <a:avLst>
              <a:gd name="adj" fmla="val 50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4B96F0">
                <a:alpha val="30000"/>
              </a:srgbClr>
            </a:solidFill>
            <a:prstDash val="solid"/>
            <a:round/>
          </a:ln>
          <a:effectLst>
            <a:outerShdw blurRad="152400" dist="50800" dir="2700000" algn="tl" rotWithShape="0">
              <a:srgbClr val="000000">
                <a:alpha val="50000"/>
              </a:srgbClr>
            </a:outerShdw>
          </a:effectLst>
        </p:spPr>
        <p:txBody>
          <a:bodyPr vert="horz" wrap="square" lIns="254000" tIns="254000" rIns="190500" bIns="101600" rtlCol="0" anchor="t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3. Project Future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Extrapolate vector to generate multi-step future dots.</a:t>
            </a:r>
          </a:p>
        </p:txBody>
      </p:sp>
      <p:sp>
        <p:nvSpPr>
          <p:cNvPr id="11" name="AutoShape 11"/>
          <p:cNvSpPr/>
          <p:nvPr/>
        </p:nvSpPr>
        <p:spPr>
          <a:xfrm>
            <a:off x="8128000" y="3238500"/>
            <a:ext cx="2794000" cy="63500"/>
          </a:xfrm>
          <a:prstGeom prst="roundRect">
            <a:avLst>
              <a:gd name="adj" fmla="val 0"/>
            </a:avLst>
          </a:prstGeom>
          <a:solidFill>
            <a:srgbClr val="4B96F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8128000" y="4318000"/>
            <a:ext cx="2794000" cy="1270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>
            <a:normAutofit lnSpcReduction="10000"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1600" b="0" i="0" u="none" strike="noStrike">
                <a:solidFill>
                  <a:srgbClr val="B8C4DD">
                    <a:alpha val="80000"/>
                  </a:srgbClr>
                </a:solidFill>
                <a:latin typeface="Inter"/>
                <a:ea typeface="Inter"/>
                <a:cs typeface="Inter"/>
                <a:sym typeface="Inter"/>
              </a:rPr>
              <a:t>A simple linear/kalman projection creates the short-horizon trajectory needed for risk assessment.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Collision Risk Detection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" cy="38100"/>
          </a:xfrm>
          <a:prstGeom prst="roundRect">
            <a:avLst>
              <a:gd name="adj" fmla="val 0"/>
            </a:avLst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3"/>
          <a:srcRect l="13372" r="13372"/>
          <a:stretch>
            <a:fillRect/>
          </a:stretch>
        </p:blipFill>
        <p:spPr>
          <a:xfrm>
            <a:off x="6096000" y="1905000"/>
            <a:ext cx="5334000" cy="4064000"/>
          </a:xfrm>
          <a:prstGeom prst="roundRect">
            <a:avLst>
              <a:gd name="adj" fmla="val 2500"/>
            </a:avLst>
          </a:prstGeom>
          <a:noFill/>
          <a:ln w="25400" cap="flat" cmpd="sng">
            <a:solidFill>
              <a:srgbClr val="FF6347">
                <a:alpha val="50000"/>
              </a:srgbClr>
            </a:solidFill>
            <a:prstDash val="solid"/>
            <a:round/>
          </a:ln>
          <a:effectLst>
            <a:outerShdw blurRad="254000" dist="101600" dir="2700000" algn="tl" rotWithShape="0">
              <a:srgbClr val="FF6347">
                <a:alpha val="15000"/>
              </a:srgbClr>
            </a:outerShdw>
          </a:effectLst>
        </p:spPr>
      </p:pic>
      <p:sp>
        <p:nvSpPr>
          <p:cNvPr id="5" name="AutoShape 5"/>
          <p:cNvSpPr/>
          <p:nvPr/>
        </p:nvSpPr>
        <p:spPr>
          <a:xfrm>
            <a:off x="762000" y="1905000"/>
            <a:ext cx="4826000" cy="406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t" anchorCtr="0">
            <a:normAutofit/>
          </a:bodyPr>
          <a:lstStyle/>
          <a:p>
            <a:pPr indent="0" algn="l">
              <a:lnSpc>
                <a:spcPct val="116666"/>
              </a:lnSpc>
              <a:defRPr/>
            </a:pPr>
            <a:r>
              <a:rPr lang="en-US" sz="2000" b="1" i="0" u="none" strike="noStrike" dirty="0">
                <a:solidFill>
                  <a:srgbClr val="FF6347"/>
                </a:solidFill>
                <a:latin typeface="Space Grotesk"/>
                <a:ea typeface="Space Grotesk"/>
                <a:cs typeface="Space Grotesk"/>
                <a:sym typeface="Space Grotesk"/>
              </a:rPr>
              <a:t>Prediction-to-Prediction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Instead of current bounding boxes, we compare the </a:t>
            </a:r>
            <a:r>
              <a:rPr lang="en-US" sz="1600" b="1" i="0" u="none" strike="noStrike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predicted future trajectories</a:t>
            </a: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 of all vehicles.</a:t>
            </a:r>
          </a:p>
          <a:p>
            <a:pPr indent="0" algn="l">
              <a:lnSpc>
                <a:spcPct val="116666"/>
              </a:lnSpc>
            </a:pPr>
            <a:r>
              <a:rPr lang="en-US" sz="2000" b="1" i="0" u="none" strike="noStrike" dirty="0">
                <a:solidFill>
                  <a:srgbClr val="FF6347"/>
                </a:solidFill>
                <a:latin typeface="Space Grotesk"/>
                <a:ea typeface="Space Grotesk"/>
                <a:cs typeface="Space Grotesk"/>
                <a:sym typeface="Space Grotesk"/>
              </a:rPr>
              <a:t>Aligned Time Steps</a:t>
            </a:r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Compare points at matching future frames (e.g., T+1 vs T+1, T+2 vs T+2).</a:t>
            </a:r>
          </a:p>
          <a:p>
            <a:pPr indent="0" algn="l">
              <a:lnSpc>
                <a:spcPct val="116666"/>
              </a:lnSpc>
            </a:pPr>
            <a:r>
              <a:rPr lang="en-US" sz="2000" b="1" i="0" u="none" strike="noStrike" dirty="0">
                <a:solidFill>
                  <a:srgbClr val="FF6347"/>
                </a:solidFill>
                <a:latin typeface="Space Grotesk"/>
                <a:ea typeface="Space Grotesk"/>
                <a:cs typeface="Space Grotesk"/>
                <a:sym typeface="Space Grotesk"/>
              </a:rPr>
              <a:t>Distance Threshold</a:t>
            </a:r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If Euclidean distance &lt; </a:t>
            </a:r>
            <a:r>
              <a:rPr lang="en-US" sz="1600" b="1" dirty="0">
                <a:solidFill>
                  <a:srgbClr val="FF6347"/>
                </a:solidFill>
                <a:latin typeface="Inter"/>
                <a:ea typeface="Inter"/>
                <a:cs typeface="Inter"/>
                <a:sym typeface="Inter"/>
              </a:rPr>
              <a:t>0.5</a:t>
            </a: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 *(car size a + car size b), trigger warning.</a:t>
            </a:r>
          </a:p>
          <a:p>
            <a:pPr indent="0" algn="l">
              <a:lnSpc>
                <a:spcPct val="116666"/>
              </a:lnSpc>
            </a:pPr>
            <a:r>
              <a:rPr lang="en-US" sz="2000" b="1" i="0" u="none" strike="noStrike" dirty="0">
                <a:solidFill>
                  <a:srgbClr val="FF6347"/>
                </a:solidFill>
                <a:latin typeface="Space Grotesk"/>
                <a:ea typeface="Space Grotesk"/>
                <a:cs typeface="Space Grotesk"/>
                <a:sym typeface="Space Grotesk"/>
              </a:rPr>
              <a:t>Risk Scoring</a:t>
            </a:r>
          </a:p>
          <a:p>
            <a:pPr indent="0" algn="l">
              <a:lnSpc>
                <a:spcPct val="116666"/>
              </a:lnSpc>
            </a:pP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Closer time-steps yield a higher risk flag (e.g., collision at T+1 is more critical than T+5).</a:t>
            </a:r>
          </a:p>
        </p:txBody>
      </p:sp>
      <p:sp>
        <p:nvSpPr>
          <p:cNvPr id="6" name="AutoShape 6"/>
          <p:cNvSpPr/>
          <p:nvPr/>
        </p:nvSpPr>
        <p:spPr>
          <a:xfrm>
            <a:off x="8128000" y="3302000"/>
            <a:ext cx="1270000" cy="1270000"/>
          </a:xfrm>
          <a:prstGeom prst="donut">
            <a:avLst/>
          </a:prstGeom>
          <a:noFill/>
          <a:ln w="25400" cap="flat" cmpd="sng">
            <a:solidFill>
              <a:srgbClr val="FF6347">
                <a:alpha val="60000"/>
              </a:srgbClr>
            </a:solidFill>
            <a:prstDash val="dash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8699500" y="3873500"/>
            <a:ext cx="127000" cy="127000"/>
          </a:xfrm>
          <a:prstGeom prst="ellipse">
            <a:avLst/>
          </a:prstGeom>
          <a:solidFill>
            <a:srgbClr val="FF634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EDB4AB8-F903-9A35-CB40-9A76D60A10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>
            <a:extLst>
              <a:ext uri="{FF2B5EF4-FFF2-40B4-BE49-F238E27FC236}">
                <a16:creationId xmlns:a16="http://schemas.microsoft.com/office/drawing/2014/main" id="{44DBC17B-91C8-E315-27D9-B54331D6EE39}"/>
              </a:ext>
            </a:extLst>
          </p:cNvPr>
          <p:cNvSpPr/>
          <p:nvPr/>
        </p:nvSpPr>
        <p:spPr>
          <a:xfrm>
            <a:off x="762000" y="381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3200" b="1" i="0" u="none" strike="noStrike" kern="0" cap="none" spc="0" normalizeH="0" baseline="0" noProof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Prediction Results &amp; Error Analysis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3" name="AutoShape 3">
            <a:extLst>
              <a:ext uri="{FF2B5EF4-FFF2-40B4-BE49-F238E27FC236}">
                <a16:creationId xmlns:a16="http://schemas.microsoft.com/office/drawing/2014/main" id="{532D112D-515D-8F6C-CD99-E954EF0D7F78}"/>
              </a:ext>
            </a:extLst>
          </p:cNvPr>
          <p:cNvSpPr/>
          <p:nvPr/>
        </p:nvSpPr>
        <p:spPr>
          <a:xfrm>
            <a:off x="762000" y="1016000"/>
            <a:ext cx="508000" cy="381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sp>
        <p:nvSpPr>
          <p:cNvPr id="4" name="AutoShape 4">
            <a:extLst>
              <a:ext uri="{FF2B5EF4-FFF2-40B4-BE49-F238E27FC236}">
                <a16:creationId xmlns:a16="http://schemas.microsoft.com/office/drawing/2014/main" id="{C0D49B7A-4DD1-B5D2-CE7F-E6B9AD14A15A}"/>
              </a:ext>
            </a:extLst>
          </p:cNvPr>
          <p:cNvSpPr/>
          <p:nvPr/>
        </p:nvSpPr>
        <p:spPr>
          <a:xfrm>
            <a:off x="762000" y="1270000"/>
            <a:ext cx="10668000" cy="889000"/>
          </a:xfrm>
          <a:prstGeom prst="roundRect">
            <a:avLst>
              <a:gd name="adj" fmla="val 8571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2DD4BF">
                <a:alpha val="50000"/>
              </a:srgbClr>
            </a:solidFill>
            <a:prstDash val="solid"/>
            <a:round/>
          </a:ln>
        </p:spPr>
        <p:txBody>
          <a:bodyPr vert="horz" wrap="square" lIns="254000" tIns="0" rIns="254000" bIns="0" rtlCol="0" anchor="ctr" anchorCtr="0">
            <a:norm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2800" b="1" i="0" u="none" strike="noStrike" kern="0" cap="none" spc="0" normalizeH="0" baseline="0" noProof="0">
                <a:ln>
                  <a:noFill/>
                </a:ln>
                <a:solidFill>
                  <a:srgbClr val="2DD4BF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Overall Accuracy: 38/40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B8C4DD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Collision Videos: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19/20</a:t>
            </a:r>
            <a:r>
              <a:rPr kumimoji="0" lang="en-US" sz="1600" b="0" i="0" u="none" strike="noStrike" kern="0" cap="none" spc="0" normalizeH="0" baseline="0" noProof="0">
                <a:ln>
                  <a:noFill/>
                </a:ln>
                <a:solidFill>
                  <a:srgbClr val="B8C4DD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 | Normal Videos: </a:t>
            </a:r>
            <a:r>
              <a:rPr kumimoji="0" lang="en-US" sz="1600" b="1" i="0" u="none" strike="noStrike" kern="0" cap="none" spc="0" normalizeH="0" baseline="0" noProof="0">
                <a:ln>
                  <a:noFill/>
                </a:ln>
                <a:solidFill>
                  <a:srgbClr val="EAF2FF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19/20</a:t>
            </a:r>
          </a:p>
        </p:txBody>
      </p:sp>
      <p:sp>
        <p:nvSpPr>
          <p:cNvPr id="5" name="AutoShape 5">
            <a:extLst>
              <a:ext uri="{FF2B5EF4-FFF2-40B4-BE49-F238E27FC236}">
                <a16:creationId xmlns:a16="http://schemas.microsoft.com/office/drawing/2014/main" id="{24CD224A-104A-40CF-F108-CE166C402BD1}"/>
              </a:ext>
            </a:extLst>
          </p:cNvPr>
          <p:cNvSpPr/>
          <p:nvPr/>
        </p:nvSpPr>
        <p:spPr>
          <a:xfrm>
            <a:off x="762000" y="2413000"/>
            <a:ext cx="5080000" cy="3810000"/>
          </a:xfrm>
          <a:prstGeom prst="roundRect">
            <a:avLst>
              <a:gd name="adj" fmla="val 2000"/>
            </a:avLst>
          </a:prstGeom>
          <a:solidFill>
            <a:srgbClr val="101830">
              <a:alpha val="50000"/>
            </a:srgbClr>
          </a:solidFill>
          <a:ln w="12700" cap="flat" cmpd="sng">
            <a:solidFill>
              <a:srgbClr val="FF6347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E6036FAF-7F10-08F7-1F94-2A894EFA0CF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7891" b="17891"/>
          <a:stretch>
            <a:fillRect/>
          </a:stretch>
        </p:blipFill>
        <p:spPr>
          <a:xfrm>
            <a:off x="889000" y="2540000"/>
            <a:ext cx="4826000" cy="2286000"/>
          </a:xfrm>
          <a:prstGeom prst="roundRect">
            <a:avLst>
              <a:gd name="adj" fmla="val 222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7" name="AutoShape 7">
            <a:extLst>
              <a:ext uri="{FF2B5EF4-FFF2-40B4-BE49-F238E27FC236}">
                <a16:creationId xmlns:a16="http://schemas.microsoft.com/office/drawing/2014/main" id="{D86EE40B-4B93-1F83-542E-D10F3C152834}"/>
              </a:ext>
            </a:extLst>
          </p:cNvPr>
          <p:cNvSpPr/>
          <p:nvPr/>
        </p:nvSpPr>
        <p:spPr>
          <a:xfrm>
            <a:off x="889000" y="4953000"/>
            <a:ext cx="4826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6347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False Negative: Video #13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B8C4DD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One vehicle misidentified as two before impact. Raising confidence threshold to fix this causes missed detections during actual collisions.</a:t>
            </a:r>
          </a:p>
        </p:txBody>
      </p:sp>
      <p:sp>
        <p:nvSpPr>
          <p:cNvPr id="8" name="AutoShape 8">
            <a:extLst>
              <a:ext uri="{FF2B5EF4-FFF2-40B4-BE49-F238E27FC236}">
                <a16:creationId xmlns:a16="http://schemas.microsoft.com/office/drawing/2014/main" id="{205257EC-D580-FB9A-3A17-98D987AF5BE8}"/>
              </a:ext>
            </a:extLst>
          </p:cNvPr>
          <p:cNvSpPr/>
          <p:nvPr/>
        </p:nvSpPr>
        <p:spPr>
          <a:xfrm>
            <a:off x="6350000" y="2413000"/>
            <a:ext cx="5080000" cy="3810000"/>
          </a:xfrm>
          <a:prstGeom prst="roundRect">
            <a:avLst>
              <a:gd name="adj" fmla="val 2000"/>
            </a:avLst>
          </a:prstGeom>
          <a:solidFill>
            <a:srgbClr val="101830">
              <a:alpha val="50000"/>
            </a:srgbClr>
          </a:solidFill>
          <a:ln w="12700" cap="flat" cmpd="sng">
            <a:solidFill>
              <a:srgbClr val="FFB43C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pic>
        <p:nvPicPr>
          <p:cNvPr id="9" name="Picture 9">
            <a:extLst>
              <a:ext uri="{FF2B5EF4-FFF2-40B4-BE49-F238E27FC236}">
                <a16:creationId xmlns:a16="http://schemas.microsoft.com/office/drawing/2014/main" id="{EB694CEA-B35D-8B32-B8FB-12597D19C5A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6933" b="16933"/>
          <a:stretch>
            <a:fillRect/>
          </a:stretch>
        </p:blipFill>
        <p:spPr>
          <a:xfrm>
            <a:off x="6477000" y="2540000"/>
            <a:ext cx="4826000" cy="2286000"/>
          </a:xfrm>
          <a:prstGeom prst="roundRect">
            <a:avLst>
              <a:gd name="adj" fmla="val 2222"/>
            </a:avLst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>
            <a:extLst>
              <a:ext uri="{FF2B5EF4-FFF2-40B4-BE49-F238E27FC236}">
                <a16:creationId xmlns:a16="http://schemas.microsoft.com/office/drawing/2014/main" id="{DFAF2F06-C8F7-758B-32F4-7C6697FDB6F5}"/>
              </a:ext>
            </a:extLst>
          </p:cNvPr>
          <p:cNvSpPr/>
          <p:nvPr/>
        </p:nvSpPr>
        <p:spPr>
          <a:xfrm>
            <a:off x="6477000" y="4953000"/>
            <a:ext cx="4826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>
            <a:norm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800" b="1" i="0" u="none" strike="noStrike" kern="0" cap="none" spc="0" normalizeH="0" baseline="0" noProof="0">
                <a:ln>
                  <a:noFill/>
                </a:ln>
                <a:solidFill>
                  <a:srgbClr val="FFB43C"/>
                </a:solidFill>
                <a:effectLst/>
                <a:uLnTx/>
                <a:uFillTx/>
                <a:latin typeface="Space Grotesk"/>
                <a:ea typeface="Space Grotesk"/>
                <a:cs typeface="Space Grotesk"/>
                <a:sym typeface="Space Grotesk"/>
              </a:rPr>
              <a:t>False Positive: Video #12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  <a:p>
            <a:pPr marL="0" marR="0" lvl="0" indent="0" algn="l" defTabSz="914400" rtl="0" eaLnBrk="1" fontAlgn="auto" latinLnBrk="0" hangingPunct="1">
              <a:lnSpc>
                <a:spcPct val="108333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r>
              <a:rPr kumimoji="0" lang="en-US" sz="1400" b="0" i="0" u="none" strike="noStrike" kern="0" cap="none" spc="0" normalizeH="0" baseline="0" noProof="0">
                <a:ln>
                  <a:noFill/>
                </a:ln>
                <a:solidFill>
                  <a:srgbClr val="B8C4DD"/>
                </a:solidFill>
                <a:effectLst/>
                <a:uLnTx/>
                <a:uFillTx/>
                <a:latin typeface="Inter"/>
                <a:ea typeface="Inter"/>
                <a:cs typeface="Inter"/>
                <a:sym typeface="Inter"/>
              </a:rPr>
              <a:t>Visual ambiguity. From this camera perspective, the vehicles appear to scrape each other, triggering the distance threshold.</a:t>
            </a:r>
          </a:p>
        </p:txBody>
      </p:sp>
    </p:spTree>
    <p:extLst>
      <p:ext uri="{BB962C8B-B14F-4D97-AF65-F5344CB8AC3E}">
        <p14:creationId xmlns:p14="http://schemas.microsoft.com/office/powerpoint/2010/main" val="2500325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02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 anchorCtr="0">
            <a:normAutofit/>
          </a:bodyPr>
          <a:lstStyle/>
          <a:p>
            <a:pPr indent="0" algn="l">
              <a:lnSpc>
                <a:spcPct val="100000"/>
              </a:lnSpc>
              <a:defRPr/>
            </a:pPr>
            <a:r>
              <a:rPr lang="en-US" sz="3200" b="1" i="0" u="none" strike="noStrike">
                <a:solidFill>
                  <a:srgbClr val="EAF2FF"/>
                </a:solidFill>
                <a:latin typeface="Space Grotesk"/>
                <a:ea typeface="Space Grotesk"/>
                <a:cs typeface="Space Grotesk"/>
                <a:sym typeface="Space Grotesk"/>
              </a:rPr>
              <a:t>Demo Outputs &amp; Observations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" cy="381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10668000" cy="1778000"/>
          </a:xfrm>
          <a:prstGeom prst="roundRect">
            <a:avLst>
              <a:gd name="adj" fmla="val 4285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2DD4BF">
                <a:alpha val="30000"/>
              </a:srgbClr>
            </a:solidFill>
            <a:prstDash val="solid"/>
            <a:round/>
          </a:ln>
        </p:spPr>
        <p:txBody>
          <a:bodyPr vert="horz" wrap="square" lIns="254000" tIns="254000" rIns="254000" bIns="101600" rtlCol="0" anchor="t" anchorCtr="0">
            <a:normAutofit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1" i="0" u="none" strike="noStrike">
                <a:solidFill>
                  <a:srgbClr val="2DD4BF"/>
                </a:solidFill>
                <a:latin typeface="Space Grotesk"/>
                <a:ea typeface="Space Grotesk"/>
                <a:cs typeface="Space Grotesk"/>
                <a:sym typeface="Space Grotesk"/>
              </a:rPr>
              <a:t>Annotated Video UI</a:t>
            </a:r>
            <a:endParaRPr lang="en-US" sz="1100"/>
          </a:p>
          <a:p>
            <a:pPr marL="203200" indent="-203200" algn="l">
              <a:lnSpc>
                <a:spcPct val="108333"/>
              </a:lnSpc>
              <a:buClr>
                <a:srgbClr val="B8C4DD"/>
              </a:buClr>
              <a:buChar char="•"/>
            </a:pPr>
            <a:r>
              <a:rPr lang="en-US" sz="16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Bounding boxes with persistent Track IDs (TID)</a:t>
            </a:r>
          </a:p>
          <a:p>
            <a:pPr marL="203200" indent="-203200" algn="l">
              <a:lnSpc>
                <a:spcPct val="108333"/>
              </a:lnSpc>
              <a:buClr>
                <a:srgbClr val="B8C4DD"/>
              </a:buClr>
              <a:buChar char="•"/>
            </a:pPr>
            <a:r>
              <a:rPr lang="en-US" sz="16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Velocity overlays shown dynamically above vehicles</a:t>
            </a:r>
          </a:p>
          <a:p>
            <a:pPr marL="203200" indent="-203200" algn="l">
              <a:lnSpc>
                <a:spcPct val="108333"/>
              </a:lnSpc>
              <a:buClr>
                <a:srgbClr val="B8C4DD"/>
              </a:buClr>
              <a:buChar char="•"/>
            </a:pPr>
            <a:r>
              <a:rPr lang="en-US" sz="16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Dotted trajectory lines extending ahead of current position</a:t>
            </a:r>
          </a:p>
          <a:p>
            <a:pPr marL="203200" indent="-203200" algn="l">
              <a:lnSpc>
                <a:spcPct val="108333"/>
              </a:lnSpc>
              <a:buClr>
                <a:srgbClr val="B8C4DD"/>
              </a:buClr>
              <a:buChar char="•"/>
            </a:pPr>
            <a:r>
              <a:rPr lang="en-US" sz="1600" b="0" i="0" u="none" strike="noStrike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Flashing text labels &amp; highlighted boxes upon high collision risk</a:t>
            </a:r>
          </a:p>
        </p:txBody>
      </p:sp>
      <p:sp>
        <p:nvSpPr>
          <p:cNvPr id="5" name="AutoShape 5"/>
          <p:cNvSpPr/>
          <p:nvPr/>
        </p:nvSpPr>
        <p:spPr>
          <a:xfrm>
            <a:off x="762000" y="1905000"/>
            <a:ext cx="76200" cy="1778000"/>
          </a:xfrm>
          <a:prstGeom prst="roundRect">
            <a:avLst>
              <a:gd name="adj" fmla="val 0"/>
            </a:avLst>
          </a:prstGeom>
          <a:solidFill>
            <a:srgbClr val="2DD4B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762000" y="4064000"/>
            <a:ext cx="10668000" cy="1905000"/>
          </a:xfrm>
          <a:prstGeom prst="roundRect">
            <a:avLst>
              <a:gd name="adj" fmla="val 4000"/>
            </a:avLst>
          </a:prstGeom>
          <a:solidFill>
            <a:srgbClr val="101830">
              <a:alpha val="100000"/>
            </a:srgbClr>
          </a:solidFill>
          <a:ln w="12700" cap="flat" cmpd="sng">
            <a:solidFill>
              <a:srgbClr val="FFB43C">
                <a:alpha val="30000"/>
              </a:srgbClr>
            </a:solidFill>
            <a:prstDash val="solid"/>
            <a:round/>
          </a:ln>
        </p:spPr>
        <p:txBody>
          <a:bodyPr vert="horz" wrap="square" lIns="254000" tIns="254000" rIns="254000" bIns="101600" rtlCol="0" anchor="t" anchorCtr="0">
            <a:normAutofit lnSpcReduction="10000"/>
          </a:bodyPr>
          <a:lstStyle/>
          <a:p>
            <a:pPr indent="0" algn="l">
              <a:lnSpc>
                <a:spcPct val="108333"/>
              </a:lnSpc>
              <a:defRPr/>
            </a:pPr>
            <a:r>
              <a:rPr lang="en-US" sz="2000" b="1" i="0" u="none" strike="noStrike" dirty="0">
                <a:solidFill>
                  <a:srgbClr val="FFB43C"/>
                </a:solidFill>
                <a:latin typeface="Space Grotesk"/>
                <a:ea typeface="Space Grotesk"/>
                <a:cs typeface="Space Grotesk"/>
                <a:sym typeface="Space Grotesk"/>
              </a:rPr>
              <a:t>Observations &amp; Edge Cases</a:t>
            </a:r>
            <a:endParaRPr lang="en-US" sz="1100" dirty="0"/>
          </a:p>
          <a:p>
            <a:pPr marL="203200" indent="-203200" algn="l">
              <a:lnSpc>
                <a:spcPct val="108333"/>
              </a:lnSpc>
              <a:buClr>
                <a:srgbClr val="EAF2FF"/>
              </a:buClr>
              <a:buChar char="•"/>
            </a:pPr>
            <a:r>
              <a:rPr lang="en-US" sz="1600" b="1" i="0" u="none" strike="noStrike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ID Switches:</a:t>
            </a: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 Heavy occlusion behind </a:t>
            </a:r>
            <a:r>
              <a:rPr lang="en-US" sz="1600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car</a:t>
            </a: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s can cause a tracker to assign a new ID upon reappearance.</a:t>
            </a:r>
          </a:p>
          <a:p>
            <a:pPr marL="203200" indent="-203200">
              <a:lnSpc>
                <a:spcPct val="108333"/>
              </a:lnSpc>
              <a:buClr>
                <a:srgbClr val="EAF2FF"/>
              </a:buClr>
              <a:buChar char="•"/>
            </a:pPr>
            <a:r>
              <a:rPr lang="en-US" sz="1600" b="1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W</a:t>
            </a:r>
            <a:r>
              <a:rPr lang="en-US" altLang="zh-CN" sz="1600" b="1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eak Rear-end Collision Detection</a:t>
            </a:r>
            <a:r>
              <a:rPr lang="en-US" sz="1600" b="1" i="0" u="none" strike="noStrike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:</a:t>
            </a: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altLang="zh-CN" sz="1600" dirty="0">
                <a:solidFill>
                  <a:srgbClr val="B8C4DD"/>
                </a:solidFill>
                <a:latin typeface="Inter"/>
              </a:rPr>
              <a:t>The system relies on predicting overlap between simplified circular bounding volumes. Due to the rapid longitudinal movement of vehicles, a rear-end collision is often only detected when physical contact has already occurred, failing to provide the necessary buffer for proactive braking.</a:t>
            </a:r>
            <a:r>
              <a:rPr lang="en-US" sz="1600" dirty="0">
                <a:solidFill>
                  <a:srgbClr val="B8C4DD"/>
                </a:solidFill>
                <a:latin typeface="Inter"/>
                <a:sym typeface="Inter"/>
              </a:rPr>
              <a:t>.</a:t>
            </a:r>
          </a:p>
          <a:p>
            <a:pPr marL="203200" indent="-203200" algn="l">
              <a:lnSpc>
                <a:spcPct val="108333"/>
              </a:lnSpc>
              <a:buClr>
                <a:srgbClr val="EAF2FF"/>
              </a:buClr>
              <a:buChar char="•"/>
            </a:pPr>
            <a:r>
              <a:rPr lang="en-US" sz="1600" b="1" i="0" u="none" strike="noStrike" dirty="0">
                <a:solidFill>
                  <a:srgbClr val="EAF2FF"/>
                </a:solidFill>
                <a:latin typeface="Inter"/>
                <a:ea typeface="Inter"/>
                <a:cs typeface="Inter"/>
                <a:sym typeface="Inter"/>
              </a:rPr>
              <a:t>Path Ambiguity:</a:t>
            </a: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1600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paths share a same part may leads to a wrong label at first</a:t>
            </a:r>
            <a:r>
              <a:rPr lang="en-US" sz="1600" b="0" i="0" u="none" strike="noStrike" dirty="0">
                <a:solidFill>
                  <a:srgbClr val="B8C4DD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</a:p>
        </p:txBody>
      </p:sp>
      <p:sp>
        <p:nvSpPr>
          <p:cNvPr id="7" name="AutoShape 7"/>
          <p:cNvSpPr/>
          <p:nvPr/>
        </p:nvSpPr>
        <p:spPr>
          <a:xfrm>
            <a:off x="762000" y="4064000"/>
            <a:ext cx="76200" cy="1905000"/>
          </a:xfrm>
          <a:prstGeom prst="roundRect">
            <a:avLst>
              <a:gd name="adj" fmla="val 0"/>
            </a:avLst>
          </a:prstGeom>
          <a:solidFill>
            <a:srgbClr val="FFB43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101600" tIns="101600" rIns="101600" bIns="1016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771</Words>
  <Application>Microsoft Office PowerPoint</Application>
  <PresentationFormat>宽屏</PresentationFormat>
  <Paragraphs>115</Paragraphs>
  <Slides>10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5" baseType="lpstr">
      <vt:lpstr>Inter</vt:lpstr>
      <vt:lpstr>Space Grotesk</vt:lpstr>
      <vt:lpstr>Arial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奕晟 王</cp:lastModifiedBy>
  <cp:revision>3</cp:revision>
  <dcterms:modified xsi:type="dcterms:W3CDTF">2026-04-11T00:36:56Z</dcterms:modified>
</cp:coreProperties>
</file>